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4" ContentType="video/unknown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microsoft.com/office/2007/relationships/media" Target="../media/media1.mp4"/><Relationship Id="rId5" Type="http://schemas.openxmlformats.org/officeDocument/2006/relationships/video" Target="../media/media1.mp4"/><Relationship Id="rId6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D3EE"/>
                </a:solidFill>
                <a:latin typeface="Calibri"/>
              </a:defRPr>
            </a:pPr>
            <a:r>
              <a:t>FLIGHTRADAR67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The live sky, on a real globe —</a:t>
            </a:r>
            <a:br/>
            <a:r>
              <a:t>built for enthusiasts who outgrew flat maps.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Real-time ADS-B · Cesium 3D globe · Routes, trails &amp; RadarAI</a:t>
            </a:r>
            <a:br/>
            <a:r>
              <a:t>5-minute business pitch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91947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BBF24"/>
                </a:solidFill>
                <a:latin typeface="Calibri"/>
              </a:defRPr>
            </a:pPr>
            <a:r>
              <a:t>Hackathon · Product &amp; GTM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D3EE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Calibri"/>
              </a:defRPr>
            </a:pPr>
            <a:r>
              <a:t>Aviation curiosity is huge. The tools feel stuck in 2012.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651760" cy="2377440"/>
          </a:xfrm>
          <a:prstGeom prst="roundRect">
            <a:avLst>
              <a:gd name="adj" fmla="val 10000"/>
            </a:avLst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Flat &amp; opaque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Legacy trackers bury the globe under ads, paywalls, and 2D tiles that break immersion.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554480"/>
            <a:ext cx="2651760" cy="2377440"/>
          </a:xfrm>
          <a:prstGeom prst="roundRect">
            <a:avLst>
              <a:gd name="adj" fmla="val 10000"/>
            </a:avLst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737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Enthusiast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2860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Spotters, students &amp; travelers want live context — routes, altitude story, AI answers — not just dots.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554480"/>
            <a:ext cx="2651760" cy="2377440"/>
          </a:xfrm>
          <a:prstGeom prst="roundRect">
            <a:avLst>
              <a:gd name="adj" fmla="val 10000"/>
            </a:avLst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737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Dev / data friction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2860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Building on live ADS-B is hard: rate limits, antipodal clutter, laggy markers, incomplete routes.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800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FlightRadar67  ·  Confidential  ·  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D3EE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Calibri"/>
              </a:defRPr>
            </a:pPr>
            <a:r>
              <a:t>FlightRadar67 — premium live flight tracking on a true 3D Earth.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Live ADS-B (adsb.lol) with viewport-chunked loading — fast, not whole-planet spam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CesiumJS globe with altitude-coloured aircraft, smooth motion, horizon occlusion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Click → real flown path (turns &amp; curves), dep/arr airports, progress &amp; favourites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RadarAI assistant + analytics for density, airlines, and busy airports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  <a:latin typeface="Calibri"/>
              </a:defRPr>
            </a:pPr>
            <a:r>
              <a:t>• Auth.js accounts, Prisma/Postgres, Redis, Docker — production-shaped MVP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800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FlightRadar67  ·  Confidential  ·  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D3EE"/>
                </a:solidFill>
                <a:latin typeface="Calibri"/>
              </a:defRPr>
            </a:pPr>
            <a:r>
              <a:t>PRODUCT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FAFC"/>
                </a:solidFill>
                <a:latin typeface="Calibri"/>
              </a:defRPr>
            </a:pPr>
            <a:r>
              <a:t>Live globe · select a flight · see the real track</a:t>
            </a:r>
          </a:p>
        </p:txBody>
      </p:sp>
      <p:pic>
        <p:nvPicPr>
          <p:cNvPr id="5" name="Picture 4" descr="01-live-glo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4206240" cy="2651760"/>
          </a:xfrm>
          <a:prstGeom prst="rect">
            <a:avLst/>
          </a:prstGeom>
        </p:spPr>
      </p:pic>
      <p:pic>
        <p:nvPicPr>
          <p:cNvPr id="6" name="Picture 5" descr="02-flight-sele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051560"/>
            <a:ext cx="402336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Also in pitch/assets: demo-walkthrough.webm / .mp4 — play fullscreen during the 75s demo beat.</a:t>
            </a:r>
            <a:br/>
            <a:r>
              <a:t>Judges respond better to a live click-through; keep this clip as backup.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800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FlightRadar67  ·  Confidential  ·  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D3EE"/>
                </a:solidFill>
                <a:latin typeface="Calibri"/>
              </a:defRPr>
            </a:pPr>
            <a:r>
              <a:t>DEMO MEDIA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FAFC"/>
                </a:solidFill>
                <a:latin typeface="Calibri"/>
              </a:defRPr>
            </a:pPr>
            <a:r>
              <a:t>Recorded walkthrough + extra frames</a:t>
            </a:r>
          </a:p>
        </p:txBody>
      </p:sp>
      <p:pic>
        <p:nvPicPr>
          <p:cNvPr id="5" name="Picture 4" descr="03-globe-p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4206240" cy="2468880"/>
          </a:xfrm>
          <a:prstGeom prst="rect">
            <a:avLst/>
          </a:prstGeom>
        </p:spPr>
      </p:pic>
      <p:pic>
        <p:nvPicPr>
          <p:cNvPr id="6" name="Picture 5" descr="05-hero-clo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005840"/>
            <a:ext cx="4023360" cy="2468880"/>
          </a:xfrm>
          <a:prstGeom prst="rect">
            <a:avLst/>
          </a:prstGeom>
        </p:spPr>
      </p:pic>
      <p:pic>
        <p:nvPicPr>
          <p:cNvPr id="7" name="demo-walkthrough.mp4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57200" y="3611880"/>
            <a:ext cx="8229600" cy="1051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4800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FlightRadar67  ·  Confidential  ·  5/12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685800"/>
            <a:ext cx="640080" cy="502920"/>
          </a:xfrm>
          <a:prstGeom prst="roundRect">
            <a:avLst>
              <a:gd name="adj" fmla="val 10000"/>
            </a:avLst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7772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D3EE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7772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AFC"/>
                </a:solidFill>
                <a:latin typeface="Calibri"/>
              </a:defRPr>
            </a:pPr>
            <a:r>
              <a:t>Open the globe over Brisbane — live traffic streams in chunks.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344168"/>
            <a:ext cx="640080" cy="502920"/>
          </a:xfrm>
          <a:prstGeom prst="roundRect">
            <a:avLst>
              <a:gd name="adj" fmla="val 10000"/>
            </a:avLst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43560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D3EE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43560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AFC"/>
                </a:solidFill>
                <a:latin typeface="Calibri"/>
              </a:defRPr>
            </a:pPr>
            <a:r>
              <a:t>Click a jet — altitude colour, info card, dep → arr route.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002536"/>
            <a:ext cx="640080" cy="502920"/>
          </a:xfrm>
          <a:prstGeom prst="roundRect">
            <a:avLst>
              <a:gd name="adj" fmla="val 10000"/>
            </a:avLst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093976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D3EE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093976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AFC"/>
                </a:solidFill>
                <a:latin typeface="Calibri"/>
              </a:defRPr>
            </a:pPr>
            <a:r>
              <a:t>Show the solid ADS-B trail with real turns (not a straight line).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660904"/>
            <a:ext cx="640080" cy="502920"/>
          </a:xfrm>
          <a:prstGeom prst="roundRect">
            <a:avLst>
              <a:gd name="adj" fmla="val 10000"/>
            </a:avLst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75234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D3EE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752344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AFC"/>
                </a:solidFill>
                <a:latin typeface="Calibri"/>
              </a:defRPr>
            </a:pPr>
            <a:r>
              <a:t>Pan the camera — far-side aircraft stay hidden behind Earth.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319272"/>
            <a:ext cx="640080" cy="502920"/>
          </a:xfrm>
          <a:prstGeom prst="roundRect">
            <a:avLst>
              <a:gd name="adj" fmla="val 10000"/>
            </a:avLst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41071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D3EE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41071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AFC"/>
                </a:solidFill>
                <a:latin typeface="Calibri"/>
              </a:defRPr>
            </a:pPr>
            <a:r>
              <a:t>Optional: RadarAI / analytics — ask “busiest airports near me.”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800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FlightRadar67  ·  Confidential  ·  6/12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D3EE"/>
                </a:solidFill>
                <a:latin typeface="Calibri"/>
              </a:defRPr>
            </a:pPr>
            <a:r>
              <a:t>MARKET — TAM · SAM · SOM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Calibri"/>
              </a:defRPr>
            </a:pPr>
            <a:r>
              <a:t>A wedge inside a multi-billion aviation data &amp; attention market.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8321040" cy="960120"/>
          </a:xfrm>
          <a:prstGeom prst="roundRect">
            <a:avLst>
              <a:gd name="adj" fmla="val 10000"/>
            </a:avLst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Calibri"/>
              </a:defRPr>
            </a:pPr>
            <a:r>
              <a:t>TAM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2070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D3EE"/>
                </a:solidFill>
                <a:latin typeface="Calibri"/>
              </a:defRPr>
            </a:pPr>
            <a:r>
              <a:t>$12–18B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28016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Global aviation software, flight data, travel tools &amp; digital aviation media (consumer + B2B).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48840"/>
            <a:ext cx="8321040" cy="960120"/>
          </a:xfrm>
          <a:prstGeom prst="roundRect">
            <a:avLst>
              <a:gd name="adj" fmla="val 10000"/>
            </a:avLst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Calibri"/>
              </a:defRPr>
            </a:pPr>
            <a:r>
              <a:t>SAM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2585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D3EE"/>
                </a:solidFill>
                <a:latin typeface="Calibri"/>
              </a:defRPr>
            </a:pPr>
            <a:r>
              <a:t>$1.5–2.5B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33172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Live flight tracking, ADS-B platforms, aviation enthusiast apps &amp; APIs in English-speaking + EU/AU markets.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00400"/>
            <a:ext cx="8321040" cy="960120"/>
          </a:xfrm>
          <a:prstGeom prst="roundRect">
            <a:avLst>
              <a:gd name="adj" fmla="val 10000"/>
            </a:avLst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3375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Calibri"/>
              </a:defRPr>
            </a:pPr>
            <a:r>
              <a:t>SOM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3101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D3EE"/>
                </a:solidFill>
                <a:latin typeface="Calibri"/>
              </a:defRPr>
            </a:pPr>
            <a:r>
              <a:t>$25–60M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38328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5-year reachable: freemium consumers + prosumer/API in AU/NZ/SEA → expand to US/EU enthusiasts.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Sources: industry analyst ranges (aviation IT / travel tech) + FlightRadar24-class comps — directional for pitch, not audited.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800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FlightRadar67  ·  Confidential  ·  7/12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D3EE"/>
                </a:solidFill>
                <a:latin typeface="Calibri"/>
              </a:defRPr>
            </a:pPr>
            <a:r>
              <a:t>PRODUCT–MARKET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FAFC"/>
                </a:solidFill>
                <a:latin typeface="Calibri"/>
              </a:defRPr>
            </a:pPr>
            <a:r>
              <a:t>Who loves this on day one — and why they pay.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4069080" cy="1280160"/>
          </a:xfrm>
          <a:prstGeom prst="roundRect">
            <a:avLst>
              <a:gd name="adj" fmla="val 10000"/>
            </a:avLst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Calibri"/>
              </a:defRPr>
            </a:pPr>
            <a:r>
              <a:t>Plane spotters &amp; aviation nerds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Immersive globe + real trails = shareable wow. High engagement, low CAC via communities.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097280"/>
            <a:ext cx="4069080" cy="1280160"/>
          </a:xfrm>
          <a:prstGeom prst="roundRect">
            <a:avLst>
              <a:gd name="adj" fmla="val 10000"/>
            </a:avLst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280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Calibri"/>
              </a:defRPr>
            </a:pPr>
            <a:r>
              <a:t>Students &amp; STEM clubs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64592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Live data + RadarAI for learning. School/uni licenses and workshops.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560320"/>
            <a:ext cx="4069080" cy="1280160"/>
          </a:xfrm>
          <a:prstGeom prst="roundRect">
            <a:avLst>
              <a:gd name="adj" fmla="val 10000"/>
            </a:avLst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Calibri"/>
              </a:defRPr>
            </a:pPr>
            <a:r>
              <a:t>Travel power 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0896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Where is my inbound? Beautiful context beats opaque airline apps.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2560320"/>
            <a:ext cx="4069080" cy="1280160"/>
          </a:xfrm>
          <a:prstGeom prst="roundRect">
            <a:avLst>
              <a:gd name="adj" fmla="val 10000"/>
            </a:avLst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2743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  <a:latin typeface="Calibri"/>
              </a:defRPr>
            </a:pPr>
            <a:r>
              <a:t>Indie builders / media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10896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Future API &amp; embeds — creators need gorgeous live clips.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800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FlightRadar67  ·  Confidential  ·  8/12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D3EE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FAFC"/>
                </a:solidFill>
                <a:latin typeface="Calibri"/>
              </a:defRPr>
            </a:pPr>
            <a:r>
              <a:t>Freemium consumer wedge → pro &amp; data revenue.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2057400" cy="2926080"/>
          </a:xfrm>
          <a:prstGeom prst="roundRect">
            <a:avLst>
              <a:gd name="adj" fmla="val 10000"/>
            </a:avLst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D3EE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77440"/>
            <a:ext cx="1783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Live map, basic filters, limited history — growth engine.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1188720"/>
            <a:ext cx="2057400" cy="2926080"/>
          </a:xfrm>
          <a:prstGeom prst="roundRect">
            <a:avLst>
              <a:gd name="adj" fmla="val 10000"/>
            </a:avLst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137160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D3EE"/>
                </a:solidFill>
                <a:latin typeface="Calibri"/>
              </a:defRPr>
            </a:pPr>
            <a:r>
              <a:t>Plus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182880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Calibri"/>
              </a:defRPr>
            </a:pPr>
            <a:r>
              <a:t>$6–9/mo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377440"/>
            <a:ext cx="1783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Full trails, alerts, favourites sync, ad-light experience.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1188720"/>
            <a:ext cx="2057400" cy="2926080"/>
          </a:xfrm>
          <a:prstGeom prst="roundRect">
            <a:avLst>
              <a:gd name="adj" fmla="val 10000"/>
            </a:avLst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137160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D3EE"/>
                </a:solidFill>
                <a:latin typeface="Calibri"/>
              </a:defRPr>
            </a:pPr>
            <a:r>
              <a:t>Pro / Edu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182880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Calibri"/>
              </a:defRPr>
            </a:pPr>
            <a:r>
              <a:t>$19–49/mo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377440"/>
            <a:ext cx="1783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Analytics, RadarAI priority, classroom seats, export.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39" y="1188720"/>
            <a:ext cx="2057400" cy="2926080"/>
          </a:xfrm>
          <a:prstGeom prst="roundRect">
            <a:avLst>
              <a:gd name="adj" fmla="val 10000"/>
            </a:avLst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599" y="137160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D3EE"/>
                </a:solidFill>
                <a:latin typeface="Calibri"/>
              </a:defRPr>
            </a:pPr>
            <a:r>
              <a:t>API later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599" y="182880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Calibri"/>
              </a:defRPr>
            </a:pPr>
            <a:r>
              <a:t>usage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599" y="2377440"/>
            <a:ext cx="1783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B2B widgets &amp; historical traces for media/apps.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800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FlightRadar67  ·  Confidential  ·  9/12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D3EE"/>
                </a:solidFill>
                <a:latin typeface="Calibri"/>
              </a:defRPr>
            </a:pPr>
            <a: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FAFC"/>
                </a:solidFill>
                <a:latin typeface="Calibri"/>
              </a:defRPr>
            </a:pPr>
            <a:r>
              <a:t>Community-led growth, then partnerships.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73152" cy="6400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Calibri"/>
              </a:defRPr>
            </a:pPr>
            <a:r>
              <a:t>Phase 1 — Seed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AU/NZ aviation Discords, Reddit r/flighttracking, airport spotting groups. Shareable globe clips.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73152" cy="6400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Calibri"/>
              </a:defRPr>
            </a:pPr>
            <a:r>
              <a:t>Phase 2 — Content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TikTok/YouTube Shorts of dramatic trails &amp; landings. Creator affiliate Plus codes.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06040"/>
            <a:ext cx="73152" cy="6400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060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Calibri"/>
              </a:defRPr>
            </a:pPr>
            <a:r>
              <a:t>Phase 3 — Edu &amp; B2B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803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Pilot STEM kits with schools; approach small airlines/MRO for branded embeds.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83280"/>
            <a:ext cx="73152" cy="6400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832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Calibri"/>
              </a:defRPr>
            </a:pPr>
            <a:r>
              <a:t>Phase 4 —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576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Public API + white-label widget once retention &gt; 30-day D30 target.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800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FlightRadar67  ·  Confidential  ·  10/12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D3EE"/>
                </a:solidFill>
                <a:latin typeface="Calibri"/>
              </a:defRPr>
            </a:pPr>
            <a:r>
              <a:t>COMPETITION &amp; DIFFERENTIATION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Calibri"/>
              </a:defRPr>
            </a:pPr>
            <a:r>
              <a:t>We don’t out-ads FlightRadar24 — we out-experience the free tier.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Calibri"/>
              </a:defRPr>
            </a:pPr>
            <a:r>
              <a:t>Player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0972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Calibri"/>
              </a:defRPr>
            </a:pPr>
            <a:r>
              <a:t>Their strength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10972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Calibri"/>
              </a:defRPr>
            </a:pPr>
            <a:r>
              <a:t>Our angle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8321040" cy="685800"/>
          </a:xfrm>
          <a:prstGeom prst="roundRect">
            <a:avLst>
              <a:gd name="adj" fmla="val 10000"/>
            </a:avLst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45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FAFC"/>
                </a:solidFill>
                <a:latin typeface="Calibri"/>
              </a:defRPr>
            </a:pPr>
            <a:r>
              <a:t>FlightRadar24 / FR24 apps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645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Scale &amp; brand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D3EE"/>
                </a:solidFill>
                <a:latin typeface="Calibri"/>
              </a:defRPr>
            </a:pPr>
            <a:r>
              <a:t>We win on 3D immersion, open-data ethos, AI layer for learners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240280"/>
            <a:ext cx="8321040" cy="685800"/>
          </a:xfrm>
          <a:prstGeom prst="roundRect">
            <a:avLst>
              <a:gd name="adj" fmla="val 10000"/>
            </a:avLst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23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FAFC"/>
                </a:solidFill>
                <a:latin typeface="Calibri"/>
              </a:defRPr>
            </a:pPr>
            <a:r>
              <a:t>ADS-B Exchange / dump1090 UIs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423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Raw data power 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423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D3EE"/>
                </a:solidFill>
                <a:latin typeface="Calibri"/>
              </a:defRPr>
            </a:pPr>
            <a:r>
              <a:t>We win on polish, storytelling routes, consumer UX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17520"/>
            <a:ext cx="8321040" cy="685800"/>
          </a:xfrm>
          <a:prstGeom prst="roundRect">
            <a:avLst>
              <a:gd name="adj" fmla="val 10000"/>
            </a:avLst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2004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FAFC"/>
                </a:solidFill>
                <a:latin typeface="Calibri"/>
              </a:defRPr>
            </a:pPr>
            <a:r>
              <a:t>Airline apps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200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My booking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D3EE"/>
                </a:solidFill>
                <a:latin typeface="Calibri"/>
              </a:defRPr>
            </a:pPr>
            <a:r>
              <a:t>We win on the whole sky &amp; discovery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Early moat: product craft (occlusion, chunked ADS-B, real traces) + community brand in AU/SEA before clones catch up.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800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FlightRadar67  ·  Confidential  ·  11/12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D3EE"/>
                </a:solidFill>
                <a:latin typeface="Calibri"/>
              </a:defRPr>
            </a:pPr>
            <a: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Calibri"/>
              </a:defRPr>
            </a:pPr>
            <a:r>
              <a:t>Validate with judges &amp; mentors — then ship Plus to spotters.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7772400" cy="411480"/>
          </a:xfrm>
          <a:prstGeom prst="roundRect">
            <a:avLst>
              <a:gd name="adj" fmla="val 10000"/>
            </a:avLst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591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AFC"/>
                </a:solidFill>
                <a:latin typeface="Calibri"/>
              </a:defRPr>
            </a:pPr>
            <a:r>
              <a:t>→  Feedback on pricing &amp; ICP priority (spotters vs edu)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88920"/>
            <a:ext cx="7772400" cy="411480"/>
          </a:xfrm>
          <a:prstGeom prst="roundRect">
            <a:avLst>
              <a:gd name="adj" fmla="val 10000"/>
            </a:avLst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8620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AFC"/>
                </a:solidFill>
                <a:latin typeface="Calibri"/>
              </a:defRPr>
            </a:pPr>
            <a:r>
              <a:t>→  Intros to aviation clubs / STEM teachers in AU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91840"/>
            <a:ext cx="7772400" cy="411480"/>
          </a:xfrm>
          <a:prstGeom prst="roundRect">
            <a:avLst>
              <a:gd name="adj" fmla="val 10000"/>
            </a:avLst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3649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AFC"/>
                </a:solidFill>
                <a:latin typeface="Calibri"/>
              </a:defRPr>
            </a:pPr>
            <a:r>
              <a:t>→  Design partners for 30-day retention experiment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148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FlightRadar67 — see the sky the way it actually moves.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800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FlightRadar67  ·  Confidential  ·  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